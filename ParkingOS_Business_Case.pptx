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300">
                <a:solidFill>
                  <a:srgbClr val="E8ECF1"/>
                </a:solidFill>
              </a:defRPr>
            </a:pPr>
            <a:r>
              <a:t>Illustrative annual value protected · USD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Annual value protected</c:v>
                </c:pt>
              </c:strCache>
            </c:strRef>
          </c:tx>
          <c:spPr>
            <a:solidFill>
              <a:srgbClr val="00D4AA"/>
            </a:solidFill>
            <a:ln>
              <a:solidFill>
                <a:srgbClr val="00D4AA"/>
              </a:solidFill>
            </a:ln>
          </c:spPr>
          <c:cat>
            <c:strRef>
              <c:f>Sheet1!$A$2:$A$4</c:f>
              <c:strCache>
                <c:ptCount val="3"/>
                <c:pt idx="0">
                  <c:v>Conservative</c:v>
                </c:pt>
                <c:pt idx="1">
                  <c:v>Base</c:v>
                </c:pt>
                <c:pt idx="2">
                  <c:v>Upside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15100</c:v>
                </c:pt>
                <c:pt idx="1">
                  <c:v>30200</c:v>
                </c:pt>
                <c:pt idx="2">
                  <c:v>60400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>
                  <a:solidFill>
                    <a:srgbClr val="E8ECF1"/>
                  </a:solidFill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2A3548"/>
            </a:solidFill>
          </a:ln>
        </c:spPr>
        <c:txPr>
          <a:bodyPr/>
          <a:lstStyle/>
          <a:p>
            <a:pPr>
              <a:defRPr sz="900">
                <a:solidFill>
                  <a:srgbClr val="7B8BA3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70000.0"/>
          <c:min val="0.0"/>
        </c:scaling>
        <c:delete val="0"/>
        <c:axPos val="l"/>
        <c:majorGridlines>
          <c:spPr>
            <a:ln>
              <a:solidFill>
                <a:srgbClr val="2A3548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2A3548"/>
            </a:solidFill>
          </a:ln>
        </c:spPr>
        <c:txPr>
          <a:bodyPr/>
          <a:lstStyle/>
          <a:p>
            <a:pPr>
              <a:defRPr sz="900">
                <a:solidFill>
                  <a:srgbClr val="7B8BA3"/>
                </a:solidFill>
              </a:defRPr>
            </a:pPr>
          </a:p>
        </c:txPr>
        <c:crossAx val="-2068027336"/>
        <c:crosses val="autoZero"/>
        <c:majorUnit val="20000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8368" y="621792"/>
            <a:ext cx="1353312" cy="292608"/>
          </a:xfrm>
          <a:prstGeom prst="round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35331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A0E27"/>
                </a:solidFill>
                <a:latin typeface="Arial"/>
              </a:rPr>
              <a:t>PARKINGOS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389888"/>
            <a:ext cx="6766560" cy="12344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500" b="1" i="0">
                <a:solidFill>
                  <a:srgbClr val="E8ECF1"/>
                </a:solidFill>
                <a:latin typeface="Arial"/>
              </a:rPr>
              <a:t>From manual parking
to measurable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4944" y="2834640"/>
            <a:ext cx="576072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0" i="0">
                <a:solidFill>
                  <a:srgbClr val="AAB6C8"/>
                </a:solidFill>
                <a:latin typeface="Arial"/>
              </a:rPr>
              <a:t>A business case for protecting revenue, reducing operational effort, and scaling garage operations.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94944" y="3730752"/>
            <a:ext cx="2322576" cy="256032"/>
          </a:xfrm>
          <a:prstGeom prst="round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3781044"/>
            <a:ext cx="2322576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0D4AA"/>
                </a:solidFill>
                <a:latin typeface="Arial"/>
              </a:rPr>
              <a:t>OPERATIONS / REVENUE / CONTROL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60920" y="987552"/>
            <a:ext cx="4160520" cy="434340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662672" y="128016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00D4AA"/>
                </a:solidFill>
                <a:latin typeface="Arial"/>
              </a:rPr>
              <a:t>LIVE OPERATIONS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29800" y="1280160"/>
            <a:ext cx="13258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 i="0">
                <a:solidFill>
                  <a:srgbClr val="7B8BA3"/>
                </a:solidFill>
                <a:latin typeface="Arial"/>
              </a:rPr>
              <a:t>GARAGE A · 18:42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62672" y="1673352"/>
            <a:ext cx="1682496" cy="950976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662672" y="1673352"/>
            <a:ext cx="64008" cy="950976"/>
          </a:xfrm>
          <a:prstGeom prst="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82128" y="1810512"/>
            <a:ext cx="13624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B8BA3"/>
                </a:solidFill>
                <a:latin typeface="Arial"/>
              </a:rPr>
              <a:t>AVAILABLE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82128" y="1993392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2ED573"/>
                </a:solidFill>
                <a:latin typeface="Arial"/>
              </a:rPr>
              <a:t>42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82128" y="2386584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AB6C8"/>
                </a:solidFill>
                <a:latin typeface="Arial"/>
              </a:rPr>
              <a:t>spaces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28048" y="1673352"/>
            <a:ext cx="1682496" cy="950976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9528048" y="1673352"/>
            <a:ext cx="64008" cy="950976"/>
          </a:xfrm>
          <a:prstGeom prst="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747504" y="1810512"/>
            <a:ext cx="13624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B8BA3"/>
                </a:solidFill>
                <a:latin typeface="Arial"/>
              </a:rPr>
              <a:t>OCCUPIED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747504" y="1993392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FF6B35"/>
                </a:solidFill>
                <a:latin typeface="Arial"/>
              </a:rPr>
              <a:t>68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47504" y="2386584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AB6C8"/>
                </a:solidFill>
                <a:latin typeface="Arial"/>
              </a:rPr>
              <a:t>spaces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662672" y="2770632"/>
            <a:ext cx="1682496" cy="950976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662672" y="2770632"/>
            <a:ext cx="64008" cy="950976"/>
          </a:xfrm>
          <a:prstGeom prst="rect">
            <a:avLst/>
          </a:prstGeom>
          <a:solidFill>
            <a:srgbClr val="3498DB"/>
          </a:solidFill>
          <a:ln w="1016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82128" y="2907791"/>
            <a:ext cx="13624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B8BA3"/>
                </a:solidFill>
                <a:latin typeface="Arial"/>
              </a:rPr>
              <a:t>ACTIVE TICKETS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82128" y="3090672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3498DB"/>
                </a:solidFill>
                <a:latin typeface="Arial"/>
              </a:rPr>
              <a:t>31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3483863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AB6C8"/>
                </a:solidFill>
                <a:latin typeface="Arial"/>
              </a:rPr>
              <a:t>in progress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528048" y="2770632"/>
            <a:ext cx="1682496" cy="950976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528048" y="2770632"/>
            <a:ext cx="64008" cy="950976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47504" y="2907791"/>
            <a:ext cx="1362456" cy="1554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B8BA3"/>
                </a:solidFill>
                <a:latin typeface="Arial"/>
              </a:rPr>
              <a:t>REVENUE TODAY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747504" y="3090672"/>
            <a:ext cx="1362456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500" b="1" i="0">
                <a:solidFill>
                  <a:srgbClr val="00D4AA"/>
                </a:solidFill>
                <a:latin typeface="Arial"/>
              </a:rPr>
              <a:t>$1,284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47504" y="3483863"/>
            <a:ext cx="1362456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AAB6C8"/>
                </a:solidFill>
                <a:latin typeface="Arial"/>
              </a:rPr>
              <a:t>completed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62672" y="3895344"/>
            <a:ext cx="19202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1" i="0">
                <a:solidFill>
                  <a:srgbClr val="7B8BA3"/>
                </a:solidFill>
                <a:latin typeface="Arial"/>
              </a:rPr>
              <a:t>OCCUPANCY MAP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662672" y="4224528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8138160" y="4224528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8613648" y="4224528"/>
            <a:ext cx="347472" cy="173736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9089136" y="4224528"/>
            <a:ext cx="347472" cy="173736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9564624" y="4224528"/>
            <a:ext cx="347472" cy="173736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10040112" y="4224528"/>
            <a:ext cx="347472" cy="173736"/>
          </a:xfrm>
          <a:prstGeom prst="roundRect">
            <a:avLst/>
          </a:prstGeom>
          <a:solidFill>
            <a:srgbClr val="FF4757"/>
          </a:solidFill>
          <a:ln w="1016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7662672" y="4517136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138160" y="4517136"/>
            <a:ext cx="347472" cy="173736"/>
          </a:xfrm>
          <a:prstGeom prst="roundRect">
            <a:avLst/>
          </a:prstGeom>
          <a:solidFill>
            <a:srgbClr val="3498DB"/>
          </a:solidFill>
          <a:ln w="1016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8613648" y="4517136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9089136" y="4517136"/>
            <a:ext cx="347472" cy="173736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9564624" y="4517136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10040112" y="4517136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7662672" y="4809744"/>
            <a:ext cx="347472" cy="173736"/>
          </a:xfrm>
          <a:prstGeom prst="roundRect">
            <a:avLst/>
          </a:prstGeom>
          <a:solidFill>
            <a:srgbClr val="FF4757"/>
          </a:solidFill>
          <a:ln w="1016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8138160" y="4809744"/>
            <a:ext cx="347472" cy="173736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8613648" y="4809744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ounded Rectangle 46"/>
          <p:cNvSpPr/>
          <p:nvPr/>
        </p:nvSpPr>
        <p:spPr>
          <a:xfrm>
            <a:off x="9089136" y="4809744"/>
            <a:ext cx="347472" cy="173736"/>
          </a:xfrm>
          <a:prstGeom prst="roundRect">
            <a:avLst/>
          </a:prstGeom>
          <a:solidFill>
            <a:srgbClr val="3498DB"/>
          </a:solidFill>
          <a:ln w="1016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9564624" y="4809744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ounded Rectangle 48"/>
          <p:cNvSpPr/>
          <p:nvPr/>
        </p:nvSpPr>
        <p:spPr>
          <a:xfrm>
            <a:off x="10040112" y="4809744"/>
            <a:ext cx="347472" cy="173736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4944" y="6153912"/>
            <a:ext cx="45720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 i="0">
                <a:solidFill>
                  <a:srgbClr val="7B8BA3"/>
                </a:solidFill>
                <a:latin typeface="Arial"/>
              </a:rPr>
              <a:t>Decision brief · dark-theme edition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Built from the current application workflows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01 / 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Manual parking creates four kinds of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When the operation lives in memory, paper, and disconnected tools, value disappears between arrival and closeout.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938528"/>
            <a:ext cx="5029200" cy="12984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" y="2194560"/>
            <a:ext cx="502920" cy="502920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331720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00784" y="2157984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Arial"/>
              </a:rPr>
              <a:t>CAPACITY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00784" y="2414016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1"/>
                </a:solidFill>
                <a:latin typeface="Arial"/>
              </a:rPr>
              <a:t>Drivers wait while staff search for space.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700784" y="2926080"/>
            <a:ext cx="1371600" cy="256032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700784" y="29763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6B35"/>
                </a:solidFill>
                <a:latin typeface="Arial"/>
              </a:rPr>
              <a:t>SLOW THROUGHPUT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45352" y="1938528"/>
            <a:ext cx="5029200" cy="12984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501384" y="2194560"/>
            <a:ext cx="502920" cy="502920"/>
          </a:xfrm>
          <a:prstGeom prst="roundRect">
            <a:avLst/>
          </a:prstGeom>
          <a:solidFill>
            <a:srgbClr val="FF4757"/>
          </a:solidFill>
          <a:ln w="1016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1384" y="2331720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232904" y="2157984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4757"/>
                </a:solidFill>
                <a:latin typeface="Arial"/>
              </a:rPr>
              <a:t>REVENUE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32904" y="2414016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1"/>
                </a:solidFill>
                <a:latin typeface="Arial"/>
              </a:rPr>
              <a:t>Fees, payments, refunds, and closeout are harder to reconcile.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32904" y="2926080"/>
            <a:ext cx="1371600" cy="256032"/>
          </a:xfrm>
          <a:prstGeom prst="roundRect">
            <a:avLst/>
          </a:prstGeom>
          <a:solidFill>
            <a:srgbClr val="FF4757"/>
          </a:solidFill>
          <a:ln w="10160">
            <a:solidFill>
              <a:srgbClr val="FF47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32904" y="297637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4757"/>
                </a:solidFill>
                <a:latin typeface="Arial"/>
              </a:rPr>
              <a:t>MISSED OR DISPUTED VALUE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3232" y="3584448"/>
            <a:ext cx="5029200" cy="12984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69264" y="3840480"/>
            <a:ext cx="502920" cy="502920"/>
          </a:xfrm>
          <a:prstGeom prst="roundRect">
            <a:avLst/>
          </a:prstGeom>
          <a:solidFill>
            <a:srgbClr val="FFB800"/>
          </a:solidFill>
          <a:ln w="101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9264" y="3977639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00784" y="3803904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  <a:latin typeface="Arial"/>
              </a:rPr>
              <a:t>LABOR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00784" y="4059935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1"/>
                </a:solidFill>
                <a:latin typeface="Arial"/>
              </a:rPr>
              <a:t>Attendants and managers re-enter the same facts across shifts.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700784" y="4572000"/>
            <a:ext cx="1371600" cy="256032"/>
          </a:xfrm>
          <a:prstGeom prst="roundRect">
            <a:avLst/>
          </a:prstGeom>
          <a:solidFill>
            <a:srgbClr val="FFB800"/>
          </a:solidFill>
          <a:ln w="101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700784" y="46222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FFB800"/>
                </a:solidFill>
                <a:latin typeface="Arial"/>
              </a:rPr>
              <a:t>REWORK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45352" y="3584448"/>
            <a:ext cx="5029200" cy="12984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6501384" y="3840480"/>
            <a:ext cx="502920" cy="502920"/>
          </a:xfrm>
          <a:prstGeom prst="roundRect">
            <a:avLst/>
          </a:prstGeom>
          <a:solidFill>
            <a:srgbClr val="9B59B6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01384" y="3977639"/>
            <a:ext cx="5029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1" i="0">
                <a:solidFill>
                  <a:srgbClr val="0A0E27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32904" y="3803904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  <a:latin typeface="Arial"/>
              </a:rPr>
              <a:t>CONTROL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32904" y="4059935"/>
            <a:ext cx="3611880" cy="4389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 i="0">
                <a:solidFill>
                  <a:srgbClr val="E8ECF1"/>
                </a:solidFill>
                <a:latin typeface="Arial"/>
              </a:rPr>
              <a:t>Managers lack one view across garages, tickets, and payments.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232904" y="4572000"/>
            <a:ext cx="1371600" cy="256032"/>
          </a:xfrm>
          <a:prstGeom prst="roundRect">
            <a:avLst/>
          </a:prstGeom>
          <a:solidFill>
            <a:srgbClr val="9B59B6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32904" y="4622292"/>
            <a:ext cx="1371600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9B59B6"/>
                </a:solidFill>
                <a:latin typeface="Arial"/>
              </a:rPr>
              <a:t>LATE DECISIONS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522976"/>
            <a:ext cx="1042416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1" i="0">
                <a:solidFill>
                  <a:srgbClr val="2DE2BC"/>
                </a:solidFill>
                <a:latin typeface="Arial"/>
              </a:rPr>
              <a:t>The business problem is not a lack of parking data. It is the cost of turning activity into a trusted operating decision.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Problem framing derived from operational workflows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02 / THE OPERATING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ParkingOS closes the loop from occupancy to revenue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One operational record carries the vehicle from entry through payment, release, and reporting.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75104"/>
            <a:ext cx="2286000" cy="233172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9264" y="2240280"/>
            <a:ext cx="475488" cy="475488"/>
          </a:xfrm>
          <a:prstGeom prst="roundRect">
            <a:avLst/>
          </a:prstGeom>
          <a:solidFill>
            <a:srgbClr val="3498DB"/>
          </a:solidFill>
          <a:ln w="1016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9264" y="2386584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A0E27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9264" y="29626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98DB"/>
                </a:solidFill>
                <a:latin typeface="Arial"/>
              </a:rPr>
              <a:t>LIVE GARAGE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9264" y="3310128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Know what is available, occupied, reserved, or under maintenance.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035808" y="3145536"/>
            <a:ext cx="43891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191256" y="2953512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0D4AA"/>
                </a:solidFill>
                <a:latin typeface="Arial"/>
              </a:rPr>
              <a:t>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47872" y="1975104"/>
            <a:ext cx="2286000" cy="233172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767328" y="2240280"/>
            <a:ext cx="475488" cy="475488"/>
          </a:xfrm>
          <a:prstGeom prst="round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67328" y="2386584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A0E27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67328" y="29626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Arial"/>
              </a:rPr>
              <a:t>TICKET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67328" y="3310128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Create a durable record for the parking session.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5833872" y="3145536"/>
            <a:ext cx="438911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989320" y="2953512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0D4AA"/>
                </a:solidFill>
                <a:latin typeface="Arial"/>
              </a:rPr>
              <a:t>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45936" y="1975104"/>
            <a:ext cx="2286000" cy="233172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65392" y="2240280"/>
            <a:ext cx="475488" cy="475488"/>
          </a:xfrm>
          <a:prstGeom prst="round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65392" y="2386584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A0E27"/>
                </a:solidFill>
                <a:latin typeface="Arial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65392" y="29626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Arial"/>
              </a:rPr>
              <a:t>PAYMENT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65392" y="3310128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Calculate, validate, complete, and protect the transaction.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631936" y="3145536"/>
            <a:ext cx="43891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8787384" y="2953512"/>
            <a:ext cx="1828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 i="0">
                <a:solidFill>
                  <a:srgbClr val="00D4AA"/>
                </a:solidFill>
                <a:latin typeface="Arial"/>
              </a:rPr>
              <a:t>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44000" y="1975104"/>
            <a:ext cx="2286000" cy="233172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63456" y="2240280"/>
            <a:ext cx="475488" cy="475488"/>
          </a:xfrm>
          <a:prstGeom prst="round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63456" y="2386584"/>
            <a:ext cx="475488" cy="137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200" b="1" i="0">
                <a:solidFill>
                  <a:srgbClr val="0A0E27"/>
                </a:solidFill>
                <a:latin typeface="Arial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63456" y="2962656"/>
            <a:ext cx="18288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D573"/>
                </a:solidFill>
                <a:latin typeface="Arial"/>
              </a:rPr>
              <a:t>REPORT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63456" y="3310128"/>
            <a:ext cx="1783080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Turn completed activity into revenue and occupancy insight.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749808" y="4956048"/>
            <a:ext cx="10698480" cy="713232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7552" y="5193792"/>
            <a:ext cx="10149840" cy="21945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000" b="1">
                <a:solidFill>
                  <a:srgbClr val="00D4AA"/>
                </a:solidFill>
                <a:latin typeface="Arial"/>
              </a:rPr>
              <a:t>BUSINESS EFFECT  </a:t>
            </a:r>
            <a:r>
              <a:rPr sz="1500" b="1">
                <a:solidFill>
                  <a:srgbClr val="E8ECF1"/>
                </a:solidFill>
                <a:latin typeface="Arial"/>
              </a:rPr>
              <a:t>The same system of record supports throughput, revenue assurance, shift control, and management reporting.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Evidence: live snapshots, ticket lifecycle, payment service, analytics/reporting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03 / REVENUE PROTECTION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Every completed ticket becomes a traceable financial event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Revenue is calculated and recognized through the payment closeout path—not reconstructed later from memory.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6537960" cy="356616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03120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TRANSACTION WATERFALL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87552" y="2770632"/>
            <a:ext cx="1188720" cy="1078992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97180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ECF1"/>
                </a:solidFill>
                <a:latin typeface="Arial"/>
              </a:rPr>
              <a:t>Parking duration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511296"/>
            <a:ext cx="969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3498DB"/>
                </a:solidFill>
                <a:latin typeface="Arial"/>
              </a:rPr>
              <a:t>HOURLY FEE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12848" y="30815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  <a:latin typeface="Arial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2770632"/>
            <a:ext cx="1188720" cy="1078992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FFB8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78608" y="297180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ECF1"/>
                </a:solidFill>
                <a:latin typeface="Arial"/>
              </a:rPr>
              <a:t>Base amount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3511296"/>
            <a:ext cx="969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FFB800"/>
                </a:solidFill>
                <a:latin typeface="Arial"/>
              </a:rPr>
              <a:t>+ TAX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94176" y="30815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  <a:latin typeface="Arial"/>
              </a:rP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950208" y="2770632"/>
            <a:ext cx="1188720" cy="1078992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059936" y="297180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ECF1"/>
                </a:solidFill>
                <a:latin typeface="Arial"/>
              </a:rPr>
              <a:t>Final amount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3511296"/>
            <a:ext cx="969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00D4AA"/>
                </a:solidFill>
                <a:latin typeface="Arial"/>
              </a:rPr>
              <a:t>PAYMENT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75504" y="3081528"/>
            <a:ext cx="256032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00D4AA"/>
                </a:solidFill>
                <a:latin typeface="Arial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31536" y="2770632"/>
            <a:ext cx="1188720" cy="1078992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541264" y="2971800"/>
            <a:ext cx="969264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1200" b="1" i="0">
                <a:solidFill>
                  <a:srgbClr val="E8ECF1"/>
                </a:solidFill>
                <a:latin typeface="Arial"/>
              </a:rPr>
              <a:t>Completed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41264" y="3511296"/>
            <a:ext cx="969264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900" b="1" i="0">
                <a:solidFill>
                  <a:srgbClr val="2ED573"/>
                </a:solidFill>
                <a:latin typeface="Arial"/>
              </a:rPr>
              <a:t>REVENUE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315968"/>
            <a:ext cx="2743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8BA3"/>
                </a:solidFill>
                <a:latin typeface="Arial"/>
              </a:rPr>
              <a:t>CONTROLS REPRESENTED IN THE CODEBASE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05840" y="4590288"/>
            <a:ext cx="557784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E8ECF1"/>
                </a:solidFill>
                <a:latin typeface="Arial"/>
              </a:defRPr>
            </a:pPr>
            <a:r>
              <a:t>• Duplicate-payment protection</a:t>
            </a:r>
          </a:p>
          <a:p>
            <a:pPr>
              <a:spcAft>
                <a:spcPts val="400"/>
              </a:spcAft>
              <a:defRPr sz="1200">
                <a:solidFill>
                  <a:srgbClr val="E8ECF1"/>
                </a:solidFill>
                <a:latin typeface="Arial"/>
              </a:defRPr>
            </a:pPr>
            <a:r>
              <a:t>• Card, cash, and wallet payment paths</a:t>
            </a:r>
          </a:p>
          <a:p>
            <a:pPr>
              <a:spcAft>
                <a:spcPts val="400"/>
              </a:spcAft>
              <a:defRPr sz="1200">
                <a:solidFill>
                  <a:srgbClr val="E8ECF1"/>
                </a:solidFill>
                <a:latin typeface="Arial"/>
              </a:defRPr>
            </a:pPr>
            <a:r>
              <a:t>• Refund handling and status transitions</a:t>
            </a:r>
          </a:p>
          <a:p>
            <a:pPr>
              <a:spcAft>
                <a:spcPts val="400"/>
              </a:spcAft>
              <a:defRPr sz="1200">
                <a:solidFill>
                  <a:srgbClr val="E8ECF1"/>
                </a:solidFill>
                <a:latin typeface="Arial"/>
              </a:defRPr>
            </a:pPr>
            <a:r>
              <a:t>• Payment/ticket garage consistency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635240" y="1828800"/>
            <a:ext cx="3813048" cy="3566160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36992" y="2103120"/>
            <a:ext cx="201168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Arial"/>
              </a:rPr>
              <a:t>WHY IT MATTERS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936992" y="2606040"/>
            <a:ext cx="2971800" cy="6766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 i="0">
                <a:solidFill>
                  <a:srgbClr val="E8ECF1"/>
                </a:solidFill>
                <a:latin typeface="Arial"/>
              </a:rPr>
              <a:t>Manual closeout asks managers to trust a later reconstruction.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936992" y="3621024"/>
            <a:ext cx="2944368" cy="0"/>
          </a:xfrm>
          <a:prstGeom prst="line">
            <a:avLst/>
          </a:prstGeom>
          <a:ln w="1016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7936992" y="3931920"/>
            <a:ext cx="2926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 i="0">
                <a:solidFill>
                  <a:srgbClr val="2DE2BC"/>
                </a:solidFill>
                <a:latin typeface="Arial"/>
              </a:rPr>
              <a:t>ParkingOS records the business event when it happens.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7936992" y="4828032"/>
            <a:ext cx="1627632" cy="256032"/>
          </a:xfrm>
          <a:prstGeom prst="round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36992" y="4878324"/>
            <a:ext cx="1627632" cy="128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850" b="1" i="0">
                <a:solidFill>
                  <a:srgbClr val="00D4AA"/>
                </a:solidFill>
                <a:latin typeface="Arial"/>
              </a:rPr>
              <a:t>REVENUE ASSURANCE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Evidence: PaymentService, PaymentStatus, TicketStatus, AnalyticsReportingView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04 / COST REDUCTION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Replace repeated checking with live operational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The largest near-term savings opportunity is not a new fee. It is less rework per vehicle, shift, and garage.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47088"/>
            <a:ext cx="7315200" cy="361188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2140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7B8BA3"/>
                </a:solidFill>
                <a:latin typeface="Arial"/>
              </a:rPr>
              <a:t>MANUAL COST CENTER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22191" y="212140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SYSTEM RESPONSE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542032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Occupancy checks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52928" y="2542032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Ask / walk / reconcile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07408" y="2523744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3498DB"/>
                </a:solidFill>
                <a:latin typeface="Arial"/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00600" y="2542032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3498DB"/>
                </a:solidFill>
                <a:latin typeface="Arial"/>
              </a:rPr>
              <a:t>Live snapshot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05840" y="2935224"/>
            <a:ext cx="6693408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05840" y="3209544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Ticket status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52928" y="3209544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Re-enter or search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7408" y="3191256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FF6B35"/>
                </a:solidFill>
                <a:latin typeface="Arial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00600" y="3209544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FF6B35"/>
                </a:solidFill>
                <a:latin typeface="Arial"/>
              </a:rPr>
              <a:t>Durable lifecycle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005840" y="3602736"/>
            <a:ext cx="6693408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005840" y="3877056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Shift closeout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52928" y="3877056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Manually total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07408" y="3858768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00D4AA"/>
                </a:solidFill>
                <a:latin typeface="Arial"/>
              </a:rPr>
              <a:t>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00600" y="3877056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Arial"/>
              </a:rPr>
              <a:t>Completed payments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1005840" y="4270248"/>
            <a:ext cx="6693408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005840" y="4544568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Management report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52928" y="4544568"/>
            <a:ext cx="141732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Build spreadsheet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07408" y="4526280"/>
            <a:ext cx="2286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600" b="1" i="0">
                <a:solidFill>
                  <a:srgbClr val="2ED573"/>
                </a:solidFill>
                <a:latin typeface="Arial"/>
              </a:rPr>
              <a:t>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800600" y="4544568"/>
            <a:ext cx="251460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2ED573"/>
                </a:solidFill>
                <a:latin typeface="Arial"/>
              </a:rPr>
              <a:t>Analytics + export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1005840" y="4937759"/>
            <a:ext cx="6693408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366760" y="1847088"/>
            <a:ext cx="3081528" cy="3611880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68512" y="2121408"/>
            <a:ext cx="21031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B800"/>
                </a:solidFill>
                <a:latin typeface="Arial"/>
              </a:rPr>
              <a:t>OPERATING LEVER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68512" y="2606040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8ECF1"/>
                </a:solidFill>
                <a:latin typeface="Arial"/>
              </a:rPr>
              <a:t>Fewer handoffs
per vehicle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68512" y="3675887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8ECF1"/>
                </a:solidFill>
                <a:latin typeface="Arial"/>
              </a:rPr>
              <a:t>Fewer handoffs
per shift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68512" y="4745736"/>
            <a:ext cx="21945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E8ECF1"/>
                </a:solidFill>
                <a:latin typeface="Arial"/>
              </a:rPr>
              <a:t>Fewer handoffs
per garage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Cost reduction levers are operational; savings require measured baseline data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05 / ILLUSTRATIVE ECONOMICS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Make the value case measurable before scaling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This is a scenario model—not a claimed result. Replace the assumptions with one garage’s baseline after launch.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3794760" cy="4114800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24128" y="2103120"/>
            <a:ext cx="18288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MODEL INPUTS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" y="2578608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Vehicles / day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37560" y="2542032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E8ECF1"/>
                </a:solidFill>
                <a:latin typeface="Arial"/>
              </a:rPr>
              <a:t>180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24128" y="2898648"/>
            <a:ext cx="3136392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024128" y="3236976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Average ticket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37560" y="3200400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E8ECF1"/>
                </a:solidFill>
                <a:latin typeface="Arial"/>
              </a:rPr>
              <a:t>$6.50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24128" y="3557016"/>
            <a:ext cx="3136392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1024128" y="3895344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Leakage protected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37560" y="3858768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E8ECF1"/>
                </a:solidFill>
                <a:latin typeface="Arial"/>
              </a:rPr>
              <a:t>2.0%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1024128" y="4215383"/>
            <a:ext cx="3136392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1024128" y="4553712"/>
            <a:ext cx="201168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Reconciliation hours / week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337560" y="4517136"/>
            <a:ext cx="7772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600" b="1" i="0">
                <a:solidFill>
                  <a:srgbClr val="E8ECF1"/>
                </a:solidFill>
                <a:latin typeface="Arial"/>
              </a:rPr>
              <a:t>12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024128" y="4873752"/>
            <a:ext cx="3136392" cy="0"/>
          </a:xfrm>
          <a:prstGeom prst="line">
            <a:avLst/>
          </a:prstGeom>
          <a:ln w="762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1024128" y="5358384"/>
            <a:ext cx="301752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 i="1">
                <a:solidFill>
                  <a:srgbClr val="7B8BA3"/>
                </a:solidFill>
                <a:latin typeface="Arial"/>
              </a:rPr>
              <a:t>Replace these four inputs with measured operating data.</a:t>
            </a:r>
          </a:p>
        </p:txBody>
      </p:sp>
      <p:graphicFrame>
        <p:nvGraphicFramePr>
          <p:cNvPr id="20" name="Chart 19"/>
          <p:cNvGraphicFramePr>
            <a:graphicFrameLocks noGrp="1"/>
          </p:cNvGraphicFramePr>
          <p:nvPr/>
        </p:nvGraphicFramePr>
        <p:xfrm>
          <a:off x="4892040" y="1828800"/>
          <a:ext cx="6583680" cy="3063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4892040" y="5138928"/>
            <a:ext cx="6583680" cy="804672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166360" y="5413248"/>
            <a:ext cx="59893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900" b="1">
                <a:solidFill>
                  <a:srgbClr val="FFB800"/>
                </a:solidFill>
                <a:latin typeface="Arial"/>
              </a:rPr>
              <a:t>FORMULA  </a:t>
            </a:r>
            <a:r>
              <a:rPr sz="1300" b="1">
                <a:solidFill>
                  <a:srgbClr val="E8ECF1"/>
                </a:solidFill>
                <a:latin typeface="Arial"/>
              </a:rPr>
              <a:t>vehicles × average ticket × days × leakage protected + avoided reconciliation labor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Illustrative assumptions only; model should be calibrated with live garage data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06 / ALTERNATIVES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Better than manual because control is part of the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The differentiator is not “another payment screen.” It is the operating system around every parking event.</a:t>
            </a:r>
          </a:p>
        </p:txBody>
      </p:sp>
      <p:sp>
        <p:nvSpPr>
          <p:cNvPr id="5" name="Rectangle 4"/>
          <p:cNvSpPr/>
          <p:nvPr/>
        </p:nvSpPr>
        <p:spPr>
          <a:xfrm>
            <a:off x="749808" y="1938528"/>
            <a:ext cx="2331720" cy="438912"/>
          </a:xfrm>
          <a:prstGeom prst="rect">
            <a:avLst/>
          </a:prstGeom>
          <a:solidFill>
            <a:srgbClr val="0F152A"/>
          </a:solidFill>
          <a:ln w="10160">
            <a:solidFill>
              <a:srgbClr val="0F1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04671" y="1965960"/>
            <a:ext cx="22219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B8BA3"/>
                </a:solidFill>
                <a:latin typeface="Arial"/>
              </a:rPr>
              <a:t>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3108959" y="1938528"/>
            <a:ext cx="1600200" cy="438912"/>
          </a:xfrm>
          <a:prstGeom prst="rect">
            <a:avLst/>
          </a:prstGeom>
          <a:solidFill>
            <a:srgbClr val="0F152A"/>
          </a:solidFill>
          <a:ln w="10160">
            <a:solidFill>
              <a:srgbClr val="0F1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63823" y="1965960"/>
            <a:ext cx="149047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B8BA3"/>
                </a:solidFill>
                <a:latin typeface="Arial"/>
              </a:rPr>
              <a:t>Live occupancy</a:t>
            </a:r>
          </a:p>
        </p:txBody>
      </p:sp>
      <p:sp>
        <p:nvSpPr>
          <p:cNvPr id="9" name="Rectangle 8"/>
          <p:cNvSpPr/>
          <p:nvPr/>
        </p:nvSpPr>
        <p:spPr>
          <a:xfrm>
            <a:off x="4736592" y="1938528"/>
            <a:ext cx="1874519" cy="438912"/>
          </a:xfrm>
          <a:prstGeom prst="rect">
            <a:avLst/>
          </a:prstGeom>
          <a:solidFill>
            <a:srgbClr val="0F152A"/>
          </a:solidFill>
          <a:ln w="10160">
            <a:solidFill>
              <a:srgbClr val="0F1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91455" y="1965960"/>
            <a:ext cx="1764791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B8BA3"/>
                </a:solidFill>
                <a:latin typeface="Arial"/>
              </a:rPr>
              <a:t>Ticket → payment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38544" y="1938528"/>
            <a:ext cx="1554480" cy="438912"/>
          </a:xfrm>
          <a:prstGeom prst="rect">
            <a:avLst/>
          </a:prstGeom>
          <a:solidFill>
            <a:srgbClr val="0F152A"/>
          </a:solidFill>
          <a:ln w="10160">
            <a:solidFill>
              <a:srgbClr val="0F1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93407" y="1965960"/>
            <a:ext cx="144475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B8BA3"/>
                </a:solidFill>
                <a:latin typeface="Arial"/>
              </a:rPr>
              <a:t>Multi-garage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0456" y="1938528"/>
            <a:ext cx="1417320" cy="438912"/>
          </a:xfrm>
          <a:prstGeom prst="rect">
            <a:avLst/>
          </a:prstGeom>
          <a:solidFill>
            <a:srgbClr val="0F152A"/>
          </a:solidFill>
          <a:ln w="10160">
            <a:solidFill>
              <a:srgbClr val="0F1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75320" y="1965960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B8BA3"/>
                </a:solidFill>
                <a:latin typeface="Arial"/>
              </a:rPr>
              <a:t>Local control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665208" y="1938528"/>
            <a:ext cx="1417320" cy="438912"/>
          </a:xfrm>
          <a:prstGeom prst="rect">
            <a:avLst/>
          </a:prstGeom>
          <a:solidFill>
            <a:srgbClr val="0F152A"/>
          </a:solidFill>
          <a:ln w="10160">
            <a:solidFill>
              <a:srgbClr val="0F15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20072" y="1965960"/>
            <a:ext cx="1307592" cy="3840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7B8BA3"/>
                </a:solidFill>
                <a:latin typeface="Arial"/>
              </a:rPr>
              <a:t>Reporting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9808" y="2450592"/>
            <a:ext cx="23317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1" y="2478024"/>
            <a:ext cx="22219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8ECF1"/>
                </a:solidFill>
                <a:latin typeface="Arial"/>
              </a:rPr>
              <a:t>Manual / paper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108959" y="2450592"/>
            <a:ext cx="160020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163823" y="2478024"/>
            <a:ext cx="14904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4757"/>
                </a:solidFill>
                <a:latin typeface="Arial"/>
              </a:rPr>
              <a:t>WEAK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36592" y="2450592"/>
            <a:ext cx="1874519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791455" y="2478024"/>
            <a:ext cx="17647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4757"/>
                </a:solidFill>
                <a:latin typeface="Arial"/>
              </a:rPr>
              <a:t>WEAK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638544" y="2450592"/>
            <a:ext cx="155448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93407" y="2478024"/>
            <a:ext cx="14447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4757"/>
                </a:solidFill>
                <a:latin typeface="Arial"/>
              </a:rPr>
              <a:t>NONE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0456" y="2450592"/>
            <a:ext cx="14173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75320" y="247802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HIGH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665208" y="2450592"/>
            <a:ext cx="14173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720072" y="247802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FF4757"/>
                </a:solidFill>
                <a:latin typeface="Arial"/>
              </a:rPr>
              <a:t>LOW</a:t>
            </a:r>
          </a:p>
        </p:txBody>
      </p:sp>
      <p:sp>
        <p:nvSpPr>
          <p:cNvPr id="29" name="Rectangle 28"/>
          <p:cNvSpPr/>
          <p:nvPr/>
        </p:nvSpPr>
        <p:spPr>
          <a:xfrm>
            <a:off x="749808" y="3182112"/>
            <a:ext cx="23317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04671" y="3209544"/>
            <a:ext cx="22219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8ECF1"/>
                </a:solidFill>
                <a:latin typeface="Arial"/>
              </a:rPr>
              <a:t>Spreadsheet + POS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59" y="3182112"/>
            <a:ext cx="160020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63823" y="3209544"/>
            <a:ext cx="14904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PARTIAL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736592" y="3182112"/>
            <a:ext cx="1874519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791455" y="3209544"/>
            <a:ext cx="17647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PARTIAL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638544" y="3182112"/>
            <a:ext cx="155448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93407" y="3209544"/>
            <a:ext cx="14447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MANUAL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220456" y="3182112"/>
            <a:ext cx="14173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20954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MED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665208" y="3182112"/>
            <a:ext cx="14173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720072" y="320954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MED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749808" y="3913632"/>
            <a:ext cx="23317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04671" y="3941064"/>
            <a:ext cx="22219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0" i="0">
                <a:solidFill>
                  <a:srgbClr val="E8ECF1"/>
                </a:solidFill>
                <a:latin typeface="Arial"/>
              </a:rPr>
              <a:t>Generic SaaS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108959" y="3913632"/>
            <a:ext cx="160020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163823" y="3941064"/>
            <a:ext cx="14904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VARIES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736592" y="3913632"/>
            <a:ext cx="1874519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791455" y="3941064"/>
            <a:ext cx="17647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STRONG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638544" y="3913632"/>
            <a:ext cx="155448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93407" y="3941064"/>
            <a:ext cx="14447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STRONG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8220456" y="3913632"/>
            <a:ext cx="14173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94106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3498DB"/>
                </a:solidFill>
                <a:latin typeface="Arial"/>
              </a:rPr>
              <a:t>LOW</a:t>
            </a:r>
          </a:p>
        </p:txBody>
      </p:sp>
      <p:sp>
        <p:nvSpPr>
          <p:cNvPr id="51" name="Rectangle 50"/>
          <p:cNvSpPr/>
          <p:nvPr/>
        </p:nvSpPr>
        <p:spPr>
          <a:xfrm>
            <a:off x="9665208" y="3913632"/>
            <a:ext cx="1417320" cy="566928"/>
          </a:xfrm>
          <a:prstGeom prst="rect">
            <a:avLst/>
          </a:prstGeom>
          <a:solidFill>
            <a:srgbClr val="141B2D"/>
          </a:solidFill>
          <a:ln w="10160">
            <a:solidFill>
              <a:srgbClr val="141B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720072" y="394106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0" i="0">
                <a:solidFill>
                  <a:srgbClr val="AAB6C8"/>
                </a:solidFill>
                <a:latin typeface="Arial"/>
              </a:rPr>
              <a:t>STRONG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49808" y="4645152"/>
            <a:ext cx="2331720" cy="566928"/>
          </a:xfrm>
          <a:prstGeom prst="rect">
            <a:avLst/>
          </a:prstGeom>
          <a:solidFill>
            <a:srgbClr val="1A2332"/>
          </a:solidFill>
          <a:ln w="10160">
            <a:solidFill>
              <a:srgbClr val="1A2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04671" y="4672584"/>
            <a:ext cx="22219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/>
            <a:r>
              <a:rPr sz="1200" b="1" i="0">
                <a:solidFill>
                  <a:srgbClr val="E8ECF1"/>
                </a:solidFill>
                <a:latin typeface="Arial"/>
              </a:rPr>
              <a:t>ParkingOS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59" y="4645152"/>
            <a:ext cx="1600200" cy="566928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63823" y="4672584"/>
            <a:ext cx="149047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0E27"/>
                </a:solidFill>
                <a:latin typeface="Arial"/>
              </a:rPr>
              <a:t>NATIVE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4736592" y="4645152"/>
            <a:ext cx="1874519" cy="566928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791455" y="4672584"/>
            <a:ext cx="1764791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0E27"/>
                </a:solidFill>
                <a:latin typeface="Arial"/>
              </a:rPr>
              <a:t>NATIVE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6638544" y="4645152"/>
            <a:ext cx="1554480" cy="566928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693407" y="4672584"/>
            <a:ext cx="144475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0E27"/>
                </a:solidFill>
                <a:latin typeface="Arial"/>
              </a:rPr>
              <a:t>NATIVE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8220456" y="4645152"/>
            <a:ext cx="1417320" cy="566928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8275320" y="467258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0E27"/>
                </a:solidFill>
                <a:latin typeface="Arial"/>
              </a:rPr>
              <a:t>HIGH</a:t>
            </a:r>
          </a:p>
        </p:txBody>
      </p:sp>
      <p:sp>
        <p:nvSpPr>
          <p:cNvPr id="63" name="Rectangle 62"/>
          <p:cNvSpPr/>
          <p:nvPr/>
        </p:nvSpPr>
        <p:spPr>
          <a:xfrm>
            <a:off x="9665208" y="4645152"/>
            <a:ext cx="1417320" cy="566928"/>
          </a:xfrm>
          <a:prstGeom prst="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720072" y="4672584"/>
            <a:ext cx="1307592" cy="51206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/>
            <a:r>
              <a:rPr sz="900" b="1" i="0">
                <a:solidFill>
                  <a:srgbClr val="0A0E27"/>
                </a:solidFill>
                <a:latin typeface="Arial"/>
              </a:rPr>
              <a:t>NATIVE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49808" y="5486400"/>
            <a:ext cx="10698480" cy="502920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987552" y="5650992"/>
            <a:ext cx="1014984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 i="0">
                <a:solidFill>
                  <a:srgbClr val="2DE2BC"/>
                </a:solidFill>
                <a:latin typeface="Arial"/>
              </a:rPr>
              <a:t>ParkingOS wins when the buying decision is about operating control, not just transaction acceptance.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8" name="TextBox 67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Alternative capabilities are directional and should be validated against shortlisted vendors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07 / DEFENSIBILITY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The control layer is where the business value compounds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A durable parking operation needs more than a front desk interface: it needs boundaries, history, and recovery.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9808" y="1938528"/>
            <a:ext cx="5010912" cy="1124712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05840" y="2194560"/>
            <a:ext cx="91440" cy="612648"/>
          </a:xfrm>
          <a:prstGeom prst="rect">
            <a:avLst/>
          </a:prstGeom>
          <a:solidFill>
            <a:srgbClr val="3498DB"/>
          </a:solidFill>
          <a:ln w="1016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16736" y="2139696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3498DB"/>
                </a:solidFill>
                <a:latin typeface="Arial"/>
              </a:rPr>
              <a:t>PERSISTENCE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16736" y="2432304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ECF1"/>
                </a:solidFill>
                <a:latin typeface="Arial"/>
              </a:rPr>
              <a:t>Tickets, payments, garages, and reports survive the shift.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54496" y="1938528"/>
            <a:ext cx="5010912" cy="1124712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10528" y="2194560"/>
            <a:ext cx="91440" cy="612648"/>
          </a:xfrm>
          <a:prstGeom prst="rect">
            <a:avLst/>
          </a:prstGeom>
          <a:solidFill>
            <a:srgbClr val="FF6B35"/>
          </a:solidFill>
          <a:ln w="10160">
            <a:solidFill>
              <a:srgbClr val="FF6B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21424" y="2139696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FF6B35"/>
                </a:solidFill>
                <a:latin typeface="Arial"/>
              </a:rPr>
              <a:t>OWNERSHIP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21424" y="2432304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ECF1"/>
                </a:solidFill>
                <a:latin typeface="Arial"/>
              </a:rPr>
              <a:t>Every ticket and payment stays tied to one garage.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8" y="3401568"/>
            <a:ext cx="5010912" cy="1124712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05840" y="3657600"/>
            <a:ext cx="91440" cy="612648"/>
          </a:xfrm>
          <a:prstGeom prst="rect">
            <a:avLst/>
          </a:prstGeom>
          <a:solidFill>
            <a:srgbClr val="9B59B6"/>
          </a:solidFill>
          <a:ln w="1016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16736" y="3602736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9B59B6"/>
                </a:solidFill>
                <a:latin typeface="Arial"/>
              </a:rPr>
              <a:t>AUTHORIZATION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16736" y="3895344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ECF1"/>
                </a:solidFill>
                <a:latin typeface="Arial"/>
              </a:rPr>
              <a:t>Actions respect user role and garage access.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54496" y="3401568"/>
            <a:ext cx="5010912" cy="1124712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10528" y="3657600"/>
            <a:ext cx="91440" cy="612648"/>
          </a:xfrm>
          <a:prstGeom prst="rect">
            <a:avLst/>
          </a:prstGeom>
          <a:solidFill>
            <a:srgbClr val="2ED573"/>
          </a:solidFill>
          <a:ln w="10160">
            <a:solidFill>
              <a:srgbClr val="2ED57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3602736"/>
            <a:ext cx="256032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2ED573"/>
                </a:solidFill>
                <a:latin typeface="Arial"/>
              </a:rPr>
              <a:t>RECOVERY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21424" y="3895344"/>
            <a:ext cx="3977639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 i="0">
                <a:solidFill>
                  <a:srgbClr val="E8ECF1"/>
                </a:solidFill>
                <a:latin typeface="Arial"/>
              </a:rPr>
              <a:t>Backup and migration paths protect operational history.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49808" y="5102352"/>
            <a:ext cx="10698480" cy="731520"/>
          </a:xfrm>
          <a:prstGeom prst="roundRect">
            <a:avLst/>
          </a:prstGeom>
          <a:solidFill>
            <a:srgbClr val="0F152A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5330952"/>
            <a:ext cx="1014984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800" b="1" i="0">
                <a:solidFill>
                  <a:srgbClr val="E8ECF1"/>
                </a:solidFill>
                <a:latin typeface="Arial"/>
              </a:rPr>
              <a:t>This is what turns operational activity into an auditable business system.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Evidence: PersistenceStore, GarageContext, authorization checks, backup/recovery documentation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47472"/>
            <a:ext cx="530352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Arial"/>
              </a:rPr>
              <a:t>08 / DECISION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58368"/>
            <a:ext cx="1060704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 i="0">
                <a:solidFill>
                  <a:srgbClr val="E8ECF1"/>
                </a:solidFill>
                <a:latin typeface="Arial"/>
              </a:rPr>
              <a:t>Measure one garage. Then scale what works.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6656" y="1298448"/>
            <a:ext cx="102412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 i="0">
                <a:solidFill>
                  <a:srgbClr val="AAB6C8"/>
                </a:solidFill>
                <a:latin typeface="Arial"/>
              </a:rPr>
              <a:t>The next step is not a bigger feature list. It is a controlled operating baseline.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965960"/>
            <a:ext cx="2286000" cy="22128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1284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3498DB"/>
                </a:solidFill>
                <a:latin typeface="Arial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834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3498DB"/>
                </a:solidFill>
                <a:latin typeface="Arial"/>
              </a:rPr>
              <a:t>BASELINE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2186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Capture vehicles/day, average ticket, reconciliation hours, error/refund rate.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3063240" y="3072384"/>
            <a:ext cx="43891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1965960"/>
            <a:ext cx="2286000" cy="22128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94760" y="221284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00D4AA"/>
                </a:solidFill>
                <a:latin typeface="Arial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94760" y="2834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Arial"/>
              </a:rPr>
              <a:t>PILOT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94760" y="32186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Run one garage with live occupancy, ticket, payment, and report workflows.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3072384"/>
            <a:ext cx="43891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6355079" y="1965960"/>
            <a:ext cx="2286000" cy="22128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79" y="221284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FFB800"/>
                </a:solidFill>
                <a:latin typeface="Arial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79" y="2834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FFB800"/>
                </a:solidFill>
                <a:latin typeface="Arial"/>
              </a:rPr>
              <a:t>COMPARE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79" y="32186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Replace the illustrative model with observed revenue and labor deltas.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641080" y="3072384"/>
            <a:ext cx="438912" cy="0"/>
          </a:xfrm>
          <a:prstGeom prst="line">
            <a:avLst/>
          </a:prstGeom>
          <a:ln w="25400">
            <a:solidFill>
              <a:srgbClr val="00D4A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3999" y="1965960"/>
            <a:ext cx="2286000" cy="2212848"/>
          </a:xfrm>
          <a:prstGeom prst="roundRect">
            <a:avLst/>
          </a:prstGeom>
          <a:solidFill>
            <a:srgbClr val="141B2D"/>
          </a:solidFill>
          <a:ln w="10160">
            <a:solidFill>
              <a:srgbClr val="2A35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72599" y="2212848"/>
            <a:ext cx="4114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 i="0">
                <a:solidFill>
                  <a:srgbClr val="2ED573"/>
                </a:solidFill>
                <a:latin typeface="Arial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2834640"/>
            <a:ext cx="1737360" cy="1828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 i="0">
                <a:solidFill>
                  <a:srgbClr val="2ED573"/>
                </a:solidFill>
                <a:latin typeface="Arial"/>
              </a:rPr>
              <a:t>SCALE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599" y="3218688"/>
            <a:ext cx="1783080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 i="0">
                <a:solidFill>
                  <a:srgbClr val="E8ECF1"/>
                </a:solidFill>
                <a:latin typeface="Arial"/>
              </a:rPr>
              <a:t>Expand through garage-scoped operations and shared reporting.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7240" y="4828032"/>
            <a:ext cx="10652760" cy="868680"/>
          </a:xfrm>
          <a:prstGeom prst="roundRect">
            <a:avLst/>
          </a:prstGeom>
          <a:solidFill>
            <a:srgbClr val="00D4AA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5102352"/>
            <a:ext cx="100126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900" b="1" i="0">
                <a:solidFill>
                  <a:srgbClr val="0A0E27"/>
                </a:solidFill>
                <a:latin typeface="Arial"/>
              </a:rPr>
              <a:t>The opportunity is simple: fewer manual handoffs, better revenue visibility, and faster decisions per garage.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58368" y="6473952"/>
            <a:ext cx="10863072" cy="0"/>
          </a:xfrm>
          <a:prstGeom prst="line">
            <a:avLst/>
          </a:prstGeom>
          <a:ln w="8890">
            <a:solidFill>
              <a:srgbClr val="2A354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58368" y="6565392"/>
            <a:ext cx="8961120" cy="1463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850" b="0" i="0">
                <a:solidFill>
                  <a:srgbClr val="7B8BA3"/>
                </a:solidFill>
                <a:latin typeface="Arial"/>
              </a:rPr>
              <a:t>ParkingOS · Business case · Recommendation: instrument the pilot before making savings claims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82528" y="6547104"/>
            <a:ext cx="457200" cy="1645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850" b="0" i="0">
                <a:solidFill>
                  <a:srgbClr val="7B8BA3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